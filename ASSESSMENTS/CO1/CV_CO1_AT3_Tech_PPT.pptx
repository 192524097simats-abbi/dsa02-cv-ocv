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Bebas Neue Bold" charset="1" panose="020B0606020202050201"/>
      <p:regular r:id="rId14"/>
    </p:embeddedFont>
    <p:embeddedFont>
      <p:font typeface="TT Fors" charset="1" panose="020B0003030001020000"/>
      <p:regular r:id="rId15"/>
    </p:embeddedFont>
    <p:embeddedFont>
      <p:font typeface="TT Fors Bold" charset="1" panose="020B000303000102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Freeform 2" id="2"/>
          <p:cNvSpPr/>
          <p:nvPr/>
        </p:nvSpPr>
        <p:spPr>
          <a:xfrm flipH="false" flipV="false" rot="0">
            <a:off x="9665183" y="-1364650"/>
            <a:ext cx="8732754" cy="13016300"/>
          </a:xfrm>
          <a:custGeom>
            <a:avLst/>
            <a:gdLst/>
            <a:ahLst/>
            <a:cxnLst/>
            <a:rect r="r" b="b" t="t" l="l"/>
            <a:pathLst>
              <a:path h="13016300" w="8732754">
                <a:moveTo>
                  <a:pt x="0" y="0"/>
                </a:moveTo>
                <a:lnTo>
                  <a:pt x="8732754" y="0"/>
                </a:lnTo>
                <a:lnTo>
                  <a:pt x="8732754"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91676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FC1D0"/>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479057"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238125" cap="sq">
              <a:solidFill>
                <a:srgbClr val="262262"/>
              </a:solidFill>
              <a:prstDash val="solid"/>
              <a:miter/>
            </a:ln>
          </p:spPr>
        </p:sp>
      </p:grpSp>
      <p:sp>
        <p:nvSpPr>
          <p:cNvPr name="TextBox 8" id="8"/>
          <p:cNvSpPr txBox="true"/>
          <p:nvPr/>
        </p:nvSpPr>
        <p:spPr>
          <a:xfrm rot="0">
            <a:off x="1028700" y="2504046"/>
            <a:ext cx="8636483" cy="4019035"/>
          </a:xfrm>
          <a:prstGeom prst="rect">
            <a:avLst/>
          </a:prstGeom>
        </p:spPr>
        <p:txBody>
          <a:bodyPr anchor="t" rtlCol="false" tIns="0" lIns="0" bIns="0" rIns="0">
            <a:spAutoFit/>
          </a:bodyPr>
          <a:lstStyle/>
          <a:p>
            <a:pPr algn="l">
              <a:lnSpc>
                <a:spcPts val="10303"/>
              </a:lnSpc>
            </a:pPr>
            <a:r>
              <a:rPr lang="en-US" b="true" sz="10407" spc="-208">
                <a:solidFill>
                  <a:srgbClr val="F3F6FA"/>
                </a:solidFill>
                <a:latin typeface="Bebas Neue Bold"/>
                <a:ea typeface="Bebas Neue Bold"/>
                <a:cs typeface="Bebas Neue Bold"/>
                <a:sym typeface="Bebas Neue Bold"/>
              </a:rPr>
              <a:t>Technical Analysis of Computer Vision in Healthcare</a:t>
            </a:r>
          </a:p>
        </p:txBody>
      </p:sp>
      <p:sp>
        <p:nvSpPr>
          <p:cNvPr name="TextBox 9" id="9"/>
          <p:cNvSpPr txBox="true"/>
          <p:nvPr/>
        </p:nvSpPr>
        <p:spPr>
          <a:xfrm rot="0">
            <a:off x="1025334" y="6818356"/>
            <a:ext cx="8639849" cy="827675"/>
          </a:xfrm>
          <a:prstGeom prst="rect">
            <a:avLst/>
          </a:prstGeom>
        </p:spPr>
        <p:txBody>
          <a:bodyPr anchor="t" rtlCol="false" tIns="0" lIns="0" bIns="0" rIns="0">
            <a:spAutoFit/>
          </a:bodyPr>
          <a:lstStyle/>
          <a:p>
            <a:pPr algn="l">
              <a:lnSpc>
                <a:spcPts val="3208"/>
              </a:lnSpc>
            </a:pPr>
            <a:r>
              <a:rPr lang="en-US" sz="3208" spc="160">
                <a:solidFill>
                  <a:srgbClr val="F3F6FA"/>
                </a:solidFill>
                <a:latin typeface="TT Fors"/>
                <a:ea typeface="TT Fors"/>
                <a:cs typeface="TT Fors"/>
                <a:sym typeface="TT Fors"/>
              </a:rPr>
              <a:t>IDENTIFYING REAL-WORLD PROBLEMS, CASE STUDIES, TOOLS, AND INSIGHTS</a:t>
            </a:r>
          </a:p>
        </p:txBody>
      </p:sp>
      <p:sp>
        <p:nvSpPr>
          <p:cNvPr name="TextBox 10" id="10"/>
          <p:cNvSpPr txBox="true"/>
          <p:nvPr/>
        </p:nvSpPr>
        <p:spPr>
          <a:xfrm rot="0">
            <a:off x="1028700" y="8271510"/>
            <a:ext cx="4079365" cy="384810"/>
          </a:xfrm>
          <a:prstGeom prst="rect">
            <a:avLst/>
          </a:prstGeom>
        </p:spPr>
        <p:txBody>
          <a:bodyPr anchor="t" rtlCol="false" tIns="0" lIns="0" bIns="0" rIns="0">
            <a:spAutoFit/>
          </a:bodyPr>
          <a:lstStyle/>
          <a:p>
            <a:pPr algn="l">
              <a:lnSpc>
                <a:spcPts val="2969"/>
              </a:lnSpc>
            </a:pPr>
            <a:r>
              <a:rPr lang="en-US" b="true" sz="2999">
                <a:solidFill>
                  <a:srgbClr val="F3F6FA"/>
                </a:solidFill>
                <a:latin typeface="TT Fors Bold"/>
                <a:ea typeface="TT Fors Bold"/>
                <a:cs typeface="TT Fors Bold"/>
                <a:sym typeface="TT Fors Bold"/>
              </a:rPr>
              <a:t>Presented by </a:t>
            </a:r>
          </a:p>
        </p:txBody>
      </p:sp>
      <p:sp>
        <p:nvSpPr>
          <p:cNvPr name="TextBox 11" id="11"/>
          <p:cNvSpPr txBox="true"/>
          <p:nvPr/>
        </p:nvSpPr>
        <p:spPr>
          <a:xfrm rot="0">
            <a:off x="1028700" y="8732520"/>
            <a:ext cx="5819805" cy="1021080"/>
          </a:xfrm>
          <a:prstGeom prst="rect">
            <a:avLst/>
          </a:prstGeom>
        </p:spPr>
        <p:txBody>
          <a:bodyPr anchor="t" rtlCol="false" tIns="0" lIns="0" bIns="0" rIns="0">
            <a:spAutoFit/>
          </a:bodyPr>
          <a:lstStyle/>
          <a:p>
            <a:pPr algn="l">
              <a:lnSpc>
                <a:spcPts val="3959"/>
              </a:lnSpc>
            </a:pPr>
            <a:r>
              <a:rPr lang="en-US" sz="3999">
                <a:solidFill>
                  <a:srgbClr val="F3F6FA"/>
                </a:solidFill>
                <a:latin typeface="TT Fors"/>
                <a:ea typeface="TT Fors"/>
                <a:cs typeface="TT Fors"/>
                <a:sym typeface="TT Fors"/>
              </a:rPr>
              <a:t>Abbiramy V G </a:t>
            </a:r>
          </a:p>
          <a:p>
            <a:pPr algn="l">
              <a:lnSpc>
                <a:spcPts val="3959"/>
              </a:lnSpc>
            </a:pPr>
            <a:r>
              <a:rPr lang="en-US" sz="3999">
                <a:solidFill>
                  <a:srgbClr val="F3F6FA"/>
                </a:solidFill>
                <a:latin typeface="TT Fors"/>
                <a:ea typeface="TT Fors"/>
                <a:cs typeface="TT Fors"/>
                <a:sym typeface="TT Fors"/>
              </a:rPr>
              <a:t>192524097</a:t>
            </a:r>
          </a:p>
        </p:txBody>
      </p:sp>
      <p:sp>
        <p:nvSpPr>
          <p:cNvPr name="Freeform 12" id="12"/>
          <p:cNvSpPr/>
          <p:nvPr/>
        </p:nvSpPr>
        <p:spPr>
          <a:xfrm flipH="false" flipV="false" rot="0">
            <a:off x="4502700" y="-4791631"/>
            <a:ext cx="4598385" cy="6853961"/>
          </a:xfrm>
          <a:custGeom>
            <a:avLst/>
            <a:gdLst/>
            <a:ahLst/>
            <a:cxnLst/>
            <a:rect r="r" b="b" t="t" l="l"/>
            <a:pathLst>
              <a:path h="6853961" w="4598385">
                <a:moveTo>
                  <a:pt x="0" y="0"/>
                </a:moveTo>
                <a:lnTo>
                  <a:pt x="4598385" y="0"/>
                </a:lnTo>
                <a:lnTo>
                  <a:pt x="4598385" y="6853962"/>
                </a:lnTo>
                <a:lnTo>
                  <a:pt x="0" y="6853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6343591" y="8957310"/>
            <a:ext cx="3321592" cy="4950883"/>
          </a:xfrm>
          <a:custGeom>
            <a:avLst/>
            <a:gdLst/>
            <a:ahLst/>
            <a:cxnLst/>
            <a:rect r="r" b="b" t="t" l="l"/>
            <a:pathLst>
              <a:path h="4950883" w="3321592">
                <a:moveTo>
                  <a:pt x="0" y="0"/>
                </a:moveTo>
                <a:lnTo>
                  <a:pt x="3321592" y="0"/>
                </a:lnTo>
                <a:lnTo>
                  <a:pt x="3321592" y="4950883"/>
                </a:lnTo>
                <a:lnTo>
                  <a:pt x="0" y="49508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97719" y="-3719573"/>
            <a:ext cx="11892632" cy="17726146"/>
          </a:xfrm>
          <a:custGeom>
            <a:avLst/>
            <a:gdLst/>
            <a:ahLst/>
            <a:cxnLst/>
            <a:rect r="r" b="b" t="t" l="l"/>
            <a:pathLst>
              <a:path h="17726146" w="11892632">
                <a:moveTo>
                  <a:pt x="0" y="0"/>
                </a:moveTo>
                <a:lnTo>
                  <a:pt x="11892632" y="0"/>
                </a:lnTo>
                <a:lnTo>
                  <a:pt x="11892632" y="17726146"/>
                </a:lnTo>
                <a:lnTo>
                  <a:pt x="0" y="1772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7686" y="2135985"/>
            <a:ext cx="9799795" cy="3377791"/>
          </a:xfrm>
          <a:prstGeom prst="rect">
            <a:avLst/>
          </a:prstGeom>
        </p:spPr>
        <p:txBody>
          <a:bodyPr anchor="t" rtlCol="false" tIns="0" lIns="0" bIns="0" rIns="0">
            <a:spAutoFit/>
          </a:bodyPr>
          <a:lstStyle/>
          <a:p>
            <a:pPr algn="l">
              <a:lnSpc>
                <a:spcPts val="12846"/>
              </a:lnSpc>
            </a:pPr>
            <a:r>
              <a:rPr lang="en-US" sz="12976" spc="-259" b="true">
                <a:solidFill>
                  <a:srgbClr val="F3F6FA"/>
                </a:solidFill>
                <a:latin typeface="Bebas Neue Bold"/>
                <a:ea typeface="Bebas Neue Bold"/>
                <a:cs typeface="Bebas Neue Bold"/>
                <a:sym typeface="Bebas Neue Bold"/>
              </a:rPr>
              <a:t>WHAT IS COMPUTER VISION?</a:t>
            </a:r>
          </a:p>
        </p:txBody>
      </p:sp>
      <p:sp>
        <p:nvSpPr>
          <p:cNvPr name="TextBox 4" id="4"/>
          <p:cNvSpPr txBox="true"/>
          <p:nvPr/>
        </p:nvSpPr>
        <p:spPr>
          <a:xfrm rot="0">
            <a:off x="427686" y="5456626"/>
            <a:ext cx="8973892" cy="3453130"/>
          </a:xfrm>
          <a:prstGeom prst="rect">
            <a:avLst/>
          </a:prstGeom>
        </p:spPr>
        <p:txBody>
          <a:bodyPr anchor="t" rtlCol="false" tIns="0" lIns="0" bIns="0" rIns="0">
            <a:spAutoFit/>
          </a:bodyPr>
          <a:lstStyle/>
          <a:p>
            <a:pPr algn="just">
              <a:lnSpc>
                <a:spcPts val="3919"/>
              </a:lnSpc>
            </a:pPr>
            <a:r>
              <a:rPr lang="en-US" sz="2799">
                <a:solidFill>
                  <a:srgbClr val="F3F6FA"/>
                </a:solidFill>
                <a:latin typeface="TT Fors"/>
                <a:ea typeface="TT Fors"/>
                <a:cs typeface="TT Fors"/>
                <a:sym typeface="TT Fors"/>
              </a:rPr>
              <a:t>Computer Vision is an Artificial Intelligence technology that enables computers to interpret and analyze visual information from images and videos.In healthcare, it helps doctors detect diseases, analyze medical images, and improve clinical decision-making.</a:t>
            </a:r>
          </a:p>
          <a:p>
            <a:pPr algn="just">
              <a:lnSpc>
                <a:spcPts val="3919"/>
              </a:lnSpc>
            </a:pPr>
          </a:p>
        </p:txBody>
      </p:sp>
      <p:grpSp>
        <p:nvGrpSpPr>
          <p:cNvPr name="Group 5" id="5"/>
          <p:cNvGrpSpPr/>
          <p:nvPr/>
        </p:nvGrpSpPr>
        <p:grpSpPr>
          <a:xfrm rot="0">
            <a:off x="9665183" y="1028700"/>
            <a:ext cx="8229600" cy="82296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FC1D0"/>
            </a:solidFill>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8" id="8"/>
          <p:cNvGrpSpPr/>
          <p:nvPr/>
        </p:nvGrpSpPr>
        <p:grpSpPr>
          <a:xfrm rot="0">
            <a:off x="10227481" y="1590998"/>
            <a:ext cx="7105005" cy="7105005"/>
            <a:chOff x="0" y="0"/>
            <a:chExt cx="812800" cy="812800"/>
          </a:xfrm>
        </p:grpSpPr>
        <p:sp>
          <p:nvSpPr>
            <p:cNvPr name="Freeform 9" id="9"/>
            <p:cNvSpPr/>
            <p:nvPr/>
          </p:nvSpPr>
          <p:spPr>
            <a:xfrm flipH="tru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4"/>
              <a:stretch>
                <a:fillRect l="0" t="0" r="-50000" b="0"/>
              </a:stretch>
            </a:blipFill>
            <a:ln w="238125" cap="sq">
              <a:solidFill>
                <a:srgbClr val="262262"/>
              </a:solidFill>
              <a:prstDash val="solid"/>
              <a:miter/>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grpSp>
        <p:nvGrpSpPr>
          <p:cNvPr name="Group 2" id="2"/>
          <p:cNvGrpSpPr/>
          <p:nvPr/>
        </p:nvGrpSpPr>
        <p:grpSpPr>
          <a:xfrm rot="0">
            <a:off x="1028700" y="3105613"/>
            <a:ext cx="7732688" cy="2461260"/>
            <a:chOff x="0" y="0"/>
            <a:chExt cx="2036593" cy="648233"/>
          </a:xfrm>
        </p:grpSpPr>
        <p:sp>
          <p:nvSpPr>
            <p:cNvPr name="Freeform 3" id="3"/>
            <p:cNvSpPr/>
            <p:nvPr/>
          </p:nvSpPr>
          <p:spPr>
            <a:xfrm flipH="false" flipV="false" rot="0">
              <a:off x="0" y="0"/>
              <a:ext cx="2036593" cy="648233"/>
            </a:xfrm>
            <a:custGeom>
              <a:avLst/>
              <a:gdLst/>
              <a:ahLst/>
              <a:cxnLst/>
              <a:rect r="r" b="b" t="t" l="l"/>
              <a:pathLst>
                <a:path h="648233" w="2036593">
                  <a:moveTo>
                    <a:pt x="50060" y="0"/>
                  </a:moveTo>
                  <a:lnTo>
                    <a:pt x="1986533" y="0"/>
                  </a:lnTo>
                  <a:cubicBezTo>
                    <a:pt x="1999810" y="0"/>
                    <a:pt x="2012543" y="5274"/>
                    <a:pt x="2021931" y="14662"/>
                  </a:cubicBezTo>
                  <a:cubicBezTo>
                    <a:pt x="2031319" y="24050"/>
                    <a:pt x="2036593" y="36783"/>
                    <a:pt x="2036593" y="50060"/>
                  </a:cubicBezTo>
                  <a:lnTo>
                    <a:pt x="2036593" y="598173"/>
                  </a:lnTo>
                  <a:cubicBezTo>
                    <a:pt x="2036593" y="611450"/>
                    <a:pt x="2031319" y="624183"/>
                    <a:pt x="2021931" y="633571"/>
                  </a:cubicBezTo>
                  <a:cubicBezTo>
                    <a:pt x="2012543" y="642959"/>
                    <a:pt x="1999810" y="648233"/>
                    <a:pt x="1986533" y="648233"/>
                  </a:cubicBezTo>
                  <a:lnTo>
                    <a:pt x="50060" y="648233"/>
                  </a:lnTo>
                  <a:cubicBezTo>
                    <a:pt x="22412" y="648233"/>
                    <a:pt x="0" y="625821"/>
                    <a:pt x="0" y="598173"/>
                  </a:cubicBezTo>
                  <a:lnTo>
                    <a:pt x="0" y="50060"/>
                  </a:lnTo>
                  <a:cubicBezTo>
                    <a:pt x="0" y="36783"/>
                    <a:pt x="5274" y="24050"/>
                    <a:pt x="14662" y="14662"/>
                  </a:cubicBezTo>
                  <a:cubicBezTo>
                    <a:pt x="24050" y="5274"/>
                    <a:pt x="36783" y="0"/>
                    <a:pt x="50060" y="0"/>
                  </a:cubicBezTo>
                  <a:close/>
                </a:path>
              </a:pathLst>
            </a:custGeom>
            <a:ln w="38100" cap="rnd">
              <a:solidFill>
                <a:srgbClr val="000000"/>
              </a:solidFill>
              <a:prstDash val="solid"/>
              <a:round/>
            </a:ln>
          </p:spPr>
        </p:sp>
        <p:sp>
          <p:nvSpPr>
            <p:cNvPr name="TextBox 4" id="4"/>
            <p:cNvSpPr txBox="true"/>
            <p:nvPr/>
          </p:nvSpPr>
          <p:spPr>
            <a:xfrm>
              <a:off x="0" y="0"/>
              <a:ext cx="2036593" cy="648233"/>
            </a:xfrm>
            <a:prstGeom prst="rect">
              <a:avLst/>
            </a:prstGeom>
          </p:spPr>
          <p:txBody>
            <a:bodyPr anchor="ctr" rtlCol="false" tIns="50800" lIns="50800" bIns="50800" rIns="50800"/>
            <a:lstStyle/>
            <a:p>
              <a:pPr algn="ctr">
                <a:lnSpc>
                  <a:spcPts val="2889"/>
                </a:lnSpc>
              </a:pPr>
            </a:p>
          </p:txBody>
        </p:sp>
      </p:grpSp>
      <p:grpSp>
        <p:nvGrpSpPr>
          <p:cNvPr name="Group 5" id="5"/>
          <p:cNvGrpSpPr/>
          <p:nvPr/>
        </p:nvGrpSpPr>
        <p:grpSpPr>
          <a:xfrm rot="0">
            <a:off x="1313972" y="2865618"/>
            <a:ext cx="5951719" cy="673407"/>
            <a:chOff x="0" y="0"/>
            <a:chExt cx="1567531" cy="177358"/>
          </a:xfrm>
        </p:grpSpPr>
        <p:sp>
          <p:nvSpPr>
            <p:cNvPr name="Freeform 6" id="6"/>
            <p:cNvSpPr/>
            <p:nvPr/>
          </p:nvSpPr>
          <p:spPr>
            <a:xfrm flipH="false" flipV="false" rot="0">
              <a:off x="0" y="0"/>
              <a:ext cx="1567531" cy="177358"/>
            </a:xfrm>
            <a:custGeom>
              <a:avLst/>
              <a:gdLst/>
              <a:ahLst/>
              <a:cxnLst/>
              <a:rect r="r" b="b" t="t" l="l"/>
              <a:pathLst>
                <a:path h="177358" w="1567531">
                  <a:moveTo>
                    <a:pt x="0" y="0"/>
                  </a:moveTo>
                  <a:lnTo>
                    <a:pt x="1567531" y="0"/>
                  </a:lnTo>
                  <a:lnTo>
                    <a:pt x="1567531" y="177358"/>
                  </a:lnTo>
                  <a:lnTo>
                    <a:pt x="0" y="177358"/>
                  </a:lnTo>
                  <a:close/>
                </a:path>
              </a:pathLst>
            </a:custGeom>
            <a:solidFill>
              <a:srgbClr val="1C3F60"/>
            </a:solidFill>
          </p:spPr>
        </p:sp>
        <p:sp>
          <p:nvSpPr>
            <p:cNvPr name="TextBox 7" id="7"/>
            <p:cNvSpPr txBox="true"/>
            <p:nvPr/>
          </p:nvSpPr>
          <p:spPr>
            <a:xfrm>
              <a:off x="0" y="0"/>
              <a:ext cx="1567531" cy="177358"/>
            </a:xfrm>
            <a:prstGeom prst="rect">
              <a:avLst/>
            </a:prstGeom>
          </p:spPr>
          <p:txBody>
            <a:bodyPr anchor="ctr" rtlCol="false" tIns="50800" lIns="50800" bIns="50800" rIns="50800"/>
            <a:lstStyle/>
            <a:p>
              <a:pPr algn="ctr">
                <a:lnSpc>
                  <a:spcPts val="2889"/>
                </a:lnSpc>
              </a:pPr>
            </a:p>
          </p:txBody>
        </p:sp>
      </p:grpSp>
      <p:sp>
        <p:nvSpPr>
          <p:cNvPr name="TextBox 8" id="8"/>
          <p:cNvSpPr txBox="true"/>
          <p:nvPr/>
        </p:nvSpPr>
        <p:spPr>
          <a:xfrm rot="0">
            <a:off x="1028700" y="1656922"/>
            <a:ext cx="14315387" cy="914781"/>
          </a:xfrm>
          <a:prstGeom prst="rect">
            <a:avLst/>
          </a:prstGeom>
        </p:spPr>
        <p:txBody>
          <a:bodyPr anchor="t" rtlCol="false" tIns="0" lIns="0" bIns="0" rIns="0">
            <a:spAutoFit/>
          </a:bodyPr>
          <a:lstStyle/>
          <a:p>
            <a:pPr algn="l">
              <a:lnSpc>
                <a:spcPts val="6731"/>
              </a:lnSpc>
            </a:pPr>
            <a:r>
              <a:rPr lang="en-US" sz="6799" spc="-135" b="true">
                <a:solidFill>
                  <a:srgbClr val="F3F6FA"/>
                </a:solidFill>
                <a:latin typeface="Bebas Neue Bold"/>
                <a:ea typeface="Bebas Neue Bold"/>
                <a:cs typeface="Bebas Neue Bold"/>
                <a:sym typeface="Bebas Neue Bold"/>
              </a:rPr>
              <a:t>REAL-WORLD PROBLEM IDENTIFICATION IN HEALTHCARE</a:t>
            </a:r>
          </a:p>
        </p:txBody>
      </p:sp>
      <p:sp>
        <p:nvSpPr>
          <p:cNvPr name="TextBox 9" id="9"/>
          <p:cNvSpPr txBox="true"/>
          <p:nvPr/>
        </p:nvSpPr>
        <p:spPr>
          <a:xfrm rot="0">
            <a:off x="1610695" y="2982612"/>
            <a:ext cx="5654996" cy="429895"/>
          </a:xfrm>
          <a:prstGeom prst="rect">
            <a:avLst/>
          </a:prstGeom>
        </p:spPr>
        <p:txBody>
          <a:bodyPr anchor="t" rtlCol="false" tIns="0" lIns="0" bIns="0" rIns="0">
            <a:spAutoFit/>
          </a:bodyPr>
          <a:lstStyle/>
          <a:p>
            <a:pPr algn="ctr">
              <a:lnSpc>
                <a:spcPts val="3499"/>
              </a:lnSpc>
            </a:pPr>
            <a:r>
              <a:rPr lang="en-US" b="true" sz="2799">
                <a:solidFill>
                  <a:srgbClr val="F3F6FA"/>
                </a:solidFill>
                <a:latin typeface="TT Fors Bold"/>
                <a:ea typeface="TT Fors Bold"/>
                <a:cs typeface="TT Fors Bold"/>
                <a:sym typeface="TT Fors Bold"/>
              </a:rPr>
              <a:t>Delayed Disease Diagnosis</a:t>
            </a:r>
          </a:p>
        </p:txBody>
      </p:sp>
      <p:sp>
        <p:nvSpPr>
          <p:cNvPr name="TextBox 10" id="10"/>
          <p:cNvSpPr txBox="true"/>
          <p:nvPr/>
        </p:nvSpPr>
        <p:spPr>
          <a:xfrm rot="0">
            <a:off x="1313972" y="3726008"/>
            <a:ext cx="7162144" cy="1699685"/>
          </a:xfrm>
          <a:prstGeom prst="rect">
            <a:avLst/>
          </a:prstGeom>
        </p:spPr>
        <p:txBody>
          <a:bodyPr anchor="t" rtlCol="false" tIns="0" lIns="0" bIns="0" rIns="0">
            <a:spAutoFit/>
          </a:bodyPr>
          <a:lstStyle/>
          <a:p>
            <a:pPr algn="just">
              <a:lnSpc>
                <a:spcPts val="3387"/>
              </a:lnSpc>
            </a:pPr>
            <a:r>
              <a:rPr lang="en-US" sz="2709">
                <a:solidFill>
                  <a:srgbClr val="F3F6FA"/>
                </a:solidFill>
                <a:latin typeface="TT Fors"/>
                <a:ea typeface="TT Fors"/>
                <a:cs typeface="TT Fors"/>
                <a:sym typeface="TT Fors"/>
              </a:rPr>
              <a:t>Manual analysis of medical images requires significant time.Early-stage diseases may be difficult to detect.</a:t>
            </a:r>
          </a:p>
          <a:p>
            <a:pPr algn="just">
              <a:lnSpc>
                <a:spcPts val="3387"/>
              </a:lnSpc>
            </a:pPr>
          </a:p>
        </p:txBody>
      </p:sp>
      <p:grpSp>
        <p:nvGrpSpPr>
          <p:cNvPr name="Group 11" id="11"/>
          <p:cNvGrpSpPr/>
          <p:nvPr/>
        </p:nvGrpSpPr>
        <p:grpSpPr>
          <a:xfrm rot="0">
            <a:off x="1028700" y="6283118"/>
            <a:ext cx="7732688" cy="2461260"/>
            <a:chOff x="0" y="0"/>
            <a:chExt cx="2036593" cy="648233"/>
          </a:xfrm>
        </p:grpSpPr>
        <p:sp>
          <p:nvSpPr>
            <p:cNvPr name="Freeform 12" id="12"/>
            <p:cNvSpPr/>
            <p:nvPr/>
          </p:nvSpPr>
          <p:spPr>
            <a:xfrm flipH="false" flipV="false" rot="0">
              <a:off x="0" y="0"/>
              <a:ext cx="2036593" cy="648233"/>
            </a:xfrm>
            <a:custGeom>
              <a:avLst/>
              <a:gdLst/>
              <a:ahLst/>
              <a:cxnLst/>
              <a:rect r="r" b="b" t="t" l="l"/>
              <a:pathLst>
                <a:path h="648233" w="2036593">
                  <a:moveTo>
                    <a:pt x="50060" y="0"/>
                  </a:moveTo>
                  <a:lnTo>
                    <a:pt x="1986533" y="0"/>
                  </a:lnTo>
                  <a:cubicBezTo>
                    <a:pt x="1999810" y="0"/>
                    <a:pt x="2012543" y="5274"/>
                    <a:pt x="2021931" y="14662"/>
                  </a:cubicBezTo>
                  <a:cubicBezTo>
                    <a:pt x="2031319" y="24050"/>
                    <a:pt x="2036593" y="36783"/>
                    <a:pt x="2036593" y="50060"/>
                  </a:cubicBezTo>
                  <a:lnTo>
                    <a:pt x="2036593" y="598173"/>
                  </a:lnTo>
                  <a:cubicBezTo>
                    <a:pt x="2036593" y="611450"/>
                    <a:pt x="2031319" y="624183"/>
                    <a:pt x="2021931" y="633571"/>
                  </a:cubicBezTo>
                  <a:cubicBezTo>
                    <a:pt x="2012543" y="642959"/>
                    <a:pt x="1999810" y="648233"/>
                    <a:pt x="1986533" y="648233"/>
                  </a:cubicBezTo>
                  <a:lnTo>
                    <a:pt x="50060" y="648233"/>
                  </a:lnTo>
                  <a:cubicBezTo>
                    <a:pt x="22412" y="648233"/>
                    <a:pt x="0" y="625821"/>
                    <a:pt x="0" y="598173"/>
                  </a:cubicBezTo>
                  <a:lnTo>
                    <a:pt x="0" y="50060"/>
                  </a:lnTo>
                  <a:cubicBezTo>
                    <a:pt x="0" y="36783"/>
                    <a:pt x="5274" y="24050"/>
                    <a:pt x="14662" y="14662"/>
                  </a:cubicBezTo>
                  <a:cubicBezTo>
                    <a:pt x="24050" y="5274"/>
                    <a:pt x="36783" y="0"/>
                    <a:pt x="50060" y="0"/>
                  </a:cubicBezTo>
                  <a:close/>
                </a:path>
              </a:pathLst>
            </a:custGeom>
            <a:ln w="38100" cap="rnd">
              <a:solidFill>
                <a:srgbClr val="000000"/>
              </a:solidFill>
              <a:prstDash val="solid"/>
              <a:round/>
            </a:ln>
          </p:spPr>
        </p:sp>
        <p:sp>
          <p:nvSpPr>
            <p:cNvPr name="TextBox 13" id="13"/>
            <p:cNvSpPr txBox="true"/>
            <p:nvPr/>
          </p:nvSpPr>
          <p:spPr>
            <a:xfrm>
              <a:off x="0" y="0"/>
              <a:ext cx="2036593" cy="648233"/>
            </a:xfrm>
            <a:prstGeom prst="rect">
              <a:avLst/>
            </a:prstGeom>
          </p:spPr>
          <p:txBody>
            <a:bodyPr anchor="ctr" rtlCol="false" tIns="50800" lIns="50800" bIns="50800" rIns="50800"/>
            <a:lstStyle/>
            <a:p>
              <a:pPr algn="ctr">
                <a:lnSpc>
                  <a:spcPts val="2889"/>
                </a:lnSpc>
              </a:pPr>
            </a:p>
          </p:txBody>
        </p:sp>
      </p:grpSp>
      <p:grpSp>
        <p:nvGrpSpPr>
          <p:cNvPr name="Group 14" id="14"/>
          <p:cNvGrpSpPr/>
          <p:nvPr/>
        </p:nvGrpSpPr>
        <p:grpSpPr>
          <a:xfrm rot="0">
            <a:off x="1313972" y="6043123"/>
            <a:ext cx="5189512" cy="673407"/>
            <a:chOff x="0" y="0"/>
            <a:chExt cx="1366785" cy="177358"/>
          </a:xfrm>
        </p:grpSpPr>
        <p:sp>
          <p:nvSpPr>
            <p:cNvPr name="Freeform 15" id="15"/>
            <p:cNvSpPr/>
            <p:nvPr/>
          </p:nvSpPr>
          <p:spPr>
            <a:xfrm flipH="false" flipV="false" rot="0">
              <a:off x="0" y="0"/>
              <a:ext cx="1366785" cy="177358"/>
            </a:xfrm>
            <a:custGeom>
              <a:avLst/>
              <a:gdLst/>
              <a:ahLst/>
              <a:cxnLst/>
              <a:rect r="r" b="b" t="t" l="l"/>
              <a:pathLst>
                <a:path h="177358" w="1366785">
                  <a:moveTo>
                    <a:pt x="0" y="0"/>
                  </a:moveTo>
                  <a:lnTo>
                    <a:pt x="1366785" y="0"/>
                  </a:lnTo>
                  <a:lnTo>
                    <a:pt x="1366785" y="177358"/>
                  </a:lnTo>
                  <a:lnTo>
                    <a:pt x="0" y="177358"/>
                  </a:lnTo>
                  <a:close/>
                </a:path>
              </a:pathLst>
            </a:custGeom>
            <a:solidFill>
              <a:srgbClr val="1C3F60"/>
            </a:solidFill>
          </p:spPr>
        </p:sp>
        <p:sp>
          <p:nvSpPr>
            <p:cNvPr name="TextBox 16" id="16"/>
            <p:cNvSpPr txBox="true"/>
            <p:nvPr/>
          </p:nvSpPr>
          <p:spPr>
            <a:xfrm>
              <a:off x="0" y="0"/>
              <a:ext cx="1366785" cy="177358"/>
            </a:xfrm>
            <a:prstGeom prst="rect">
              <a:avLst/>
            </a:prstGeom>
          </p:spPr>
          <p:txBody>
            <a:bodyPr anchor="ctr" rtlCol="false" tIns="50800" lIns="50800" bIns="50800" rIns="50800"/>
            <a:lstStyle/>
            <a:p>
              <a:pPr algn="ctr">
                <a:lnSpc>
                  <a:spcPts val="2889"/>
                </a:lnSpc>
              </a:pPr>
            </a:p>
          </p:txBody>
        </p:sp>
      </p:grpSp>
      <p:sp>
        <p:nvSpPr>
          <p:cNvPr name="TextBox 17" id="17"/>
          <p:cNvSpPr txBox="true"/>
          <p:nvPr/>
        </p:nvSpPr>
        <p:spPr>
          <a:xfrm rot="0">
            <a:off x="1313972" y="6160117"/>
            <a:ext cx="4846076" cy="429895"/>
          </a:xfrm>
          <a:prstGeom prst="rect">
            <a:avLst/>
          </a:prstGeom>
        </p:spPr>
        <p:txBody>
          <a:bodyPr anchor="t" rtlCol="false" tIns="0" lIns="0" bIns="0" rIns="0">
            <a:spAutoFit/>
          </a:bodyPr>
          <a:lstStyle/>
          <a:p>
            <a:pPr algn="ctr">
              <a:lnSpc>
                <a:spcPts val="3499"/>
              </a:lnSpc>
            </a:pPr>
            <a:r>
              <a:rPr lang="en-US" b="true" sz="2799">
                <a:solidFill>
                  <a:srgbClr val="F3F6FA"/>
                </a:solidFill>
                <a:latin typeface="TT Fors Bold"/>
                <a:ea typeface="TT Fors Bold"/>
                <a:cs typeface="TT Fors Bold"/>
                <a:sym typeface="TT Fors Bold"/>
              </a:rPr>
              <a:t>Human Error in Diagnosis</a:t>
            </a:r>
          </a:p>
        </p:txBody>
      </p:sp>
      <p:sp>
        <p:nvSpPr>
          <p:cNvPr name="TextBox 18" id="18"/>
          <p:cNvSpPr txBox="true"/>
          <p:nvPr/>
        </p:nvSpPr>
        <p:spPr>
          <a:xfrm rot="0">
            <a:off x="1313972" y="6903513"/>
            <a:ext cx="7162144" cy="913284"/>
          </a:xfrm>
          <a:prstGeom prst="rect">
            <a:avLst/>
          </a:prstGeom>
        </p:spPr>
        <p:txBody>
          <a:bodyPr anchor="t" rtlCol="false" tIns="0" lIns="0" bIns="0" rIns="0">
            <a:spAutoFit/>
          </a:bodyPr>
          <a:lstStyle/>
          <a:p>
            <a:pPr algn="just">
              <a:lnSpc>
                <a:spcPts val="3659"/>
              </a:lnSpc>
            </a:pPr>
            <a:r>
              <a:rPr lang="en-US" sz="2927">
                <a:solidFill>
                  <a:srgbClr val="F3F6FA"/>
                </a:solidFill>
                <a:latin typeface="TT Fors"/>
                <a:ea typeface="TT Fors"/>
                <a:cs typeface="TT Fors"/>
                <a:sym typeface="TT Fors"/>
              </a:rPr>
              <a:t>Fatigue and workload can affect accuracy.</a:t>
            </a:r>
          </a:p>
        </p:txBody>
      </p:sp>
      <p:grpSp>
        <p:nvGrpSpPr>
          <p:cNvPr name="Group 19" id="19"/>
          <p:cNvGrpSpPr/>
          <p:nvPr/>
        </p:nvGrpSpPr>
        <p:grpSpPr>
          <a:xfrm rot="0">
            <a:off x="9526612" y="3105613"/>
            <a:ext cx="7732688" cy="2461260"/>
            <a:chOff x="0" y="0"/>
            <a:chExt cx="2036593" cy="648233"/>
          </a:xfrm>
        </p:grpSpPr>
        <p:sp>
          <p:nvSpPr>
            <p:cNvPr name="Freeform 20" id="20"/>
            <p:cNvSpPr/>
            <p:nvPr/>
          </p:nvSpPr>
          <p:spPr>
            <a:xfrm flipH="false" flipV="false" rot="0">
              <a:off x="0" y="0"/>
              <a:ext cx="2036593" cy="648233"/>
            </a:xfrm>
            <a:custGeom>
              <a:avLst/>
              <a:gdLst/>
              <a:ahLst/>
              <a:cxnLst/>
              <a:rect r="r" b="b" t="t" l="l"/>
              <a:pathLst>
                <a:path h="648233" w="2036593">
                  <a:moveTo>
                    <a:pt x="50060" y="0"/>
                  </a:moveTo>
                  <a:lnTo>
                    <a:pt x="1986533" y="0"/>
                  </a:lnTo>
                  <a:cubicBezTo>
                    <a:pt x="1999810" y="0"/>
                    <a:pt x="2012543" y="5274"/>
                    <a:pt x="2021931" y="14662"/>
                  </a:cubicBezTo>
                  <a:cubicBezTo>
                    <a:pt x="2031319" y="24050"/>
                    <a:pt x="2036593" y="36783"/>
                    <a:pt x="2036593" y="50060"/>
                  </a:cubicBezTo>
                  <a:lnTo>
                    <a:pt x="2036593" y="598173"/>
                  </a:lnTo>
                  <a:cubicBezTo>
                    <a:pt x="2036593" y="611450"/>
                    <a:pt x="2031319" y="624183"/>
                    <a:pt x="2021931" y="633571"/>
                  </a:cubicBezTo>
                  <a:cubicBezTo>
                    <a:pt x="2012543" y="642959"/>
                    <a:pt x="1999810" y="648233"/>
                    <a:pt x="1986533" y="648233"/>
                  </a:cubicBezTo>
                  <a:lnTo>
                    <a:pt x="50060" y="648233"/>
                  </a:lnTo>
                  <a:cubicBezTo>
                    <a:pt x="22412" y="648233"/>
                    <a:pt x="0" y="625821"/>
                    <a:pt x="0" y="598173"/>
                  </a:cubicBezTo>
                  <a:lnTo>
                    <a:pt x="0" y="50060"/>
                  </a:lnTo>
                  <a:cubicBezTo>
                    <a:pt x="0" y="36783"/>
                    <a:pt x="5274" y="24050"/>
                    <a:pt x="14662" y="14662"/>
                  </a:cubicBezTo>
                  <a:cubicBezTo>
                    <a:pt x="24050" y="5274"/>
                    <a:pt x="36783" y="0"/>
                    <a:pt x="50060" y="0"/>
                  </a:cubicBezTo>
                  <a:close/>
                </a:path>
              </a:pathLst>
            </a:custGeom>
            <a:ln w="38100" cap="rnd">
              <a:solidFill>
                <a:srgbClr val="000000"/>
              </a:solidFill>
              <a:prstDash val="solid"/>
              <a:round/>
            </a:ln>
          </p:spPr>
        </p:sp>
        <p:sp>
          <p:nvSpPr>
            <p:cNvPr name="TextBox 21" id="21"/>
            <p:cNvSpPr txBox="true"/>
            <p:nvPr/>
          </p:nvSpPr>
          <p:spPr>
            <a:xfrm>
              <a:off x="0" y="0"/>
              <a:ext cx="2036593" cy="648233"/>
            </a:xfrm>
            <a:prstGeom prst="rect">
              <a:avLst/>
            </a:prstGeom>
          </p:spPr>
          <p:txBody>
            <a:bodyPr anchor="ctr" rtlCol="false" tIns="50800" lIns="50800" bIns="50800" rIns="50800"/>
            <a:lstStyle/>
            <a:p>
              <a:pPr algn="ctr">
                <a:lnSpc>
                  <a:spcPts val="2889"/>
                </a:lnSpc>
              </a:pPr>
            </a:p>
          </p:txBody>
        </p:sp>
      </p:grpSp>
      <p:grpSp>
        <p:nvGrpSpPr>
          <p:cNvPr name="Group 22" id="22"/>
          <p:cNvGrpSpPr/>
          <p:nvPr/>
        </p:nvGrpSpPr>
        <p:grpSpPr>
          <a:xfrm rot="0">
            <a:off x="9811884" y="2865618"/>
            <a:ext cx="6185203" cy="673407"/>
            <a:chOff x="0" y="0"/>
            <a:chExt cx="1629025" cy="177358"/>
          </a:xfrm>
        </p:grpSpPr>
        <p:sp>
          <p:nvSpPr>
            <p:cNvPr name="Freeform 23" id="23"/>
            <p:cNvSpPr/>
            <p:nvPr/>
          </p:nvSpPr>
          <p:spPr>
            <a:xfrm flipH="false" flipV="false" rot="0">
              <a:off x="0" y="0"/>
              <a:ext cx="1629025" cy="177358"/>
            </a:xfrm>
            <a:custGeom>
              <a:avLst/>
              <a:gdLst/>
              <a:ahLst/>
              <a:cxnLst/>
              <a:rect r="r" b="b" t="t" l="l"/>
              <a:pathLst>
                <a:path h="177358" w="1629025">
                  <a:moveTo>
                    <a:pt x="0" y="0"/>
                  </a:moveTo>
                  <a:lnTo>
                    <a:pt x="1629025" y="0"/>
                  </a:lnTo>
                  <a:lnTo>
                    <a:pt x="1629025" y="177358"/>
                  </a:lnTo>
                  <a:lnTo>
                    <a:pt x="0" y="177358"/>
                  </a:lnTo>
                  <a:close/>
                </a:path>
              </a:pathLst>
            </a:custGeom>
            <a:solidFill>
              <a:srgbClr val="1C3F60"/>
            </a:solidFill>
          </p:spPr>
        </p:sp>
        <p:sp>
          <p:nvSpPr>
            <p:cNvPr name="TextBox 24" id="24"/>
            <p:cNvSpPr txBox="true"/>
            <p:nvPr/>
          </p:nvSpPr>
          <p:spPr>
            <a:xfrm>
              <a:off x="0" y="0"/>
              <a:ext cx="1629025" cy="177358"/>
            </a:xfrm>
            <a:prstGeom prst="rect">
              <a:avLst/>
            </a:prstGeom>
          </p:spPr>
          <p:txBody>
            <a:bodyPr anchor="ctr" rtlCol="false" tIns="50800" lIns="50800" bIns="50800" rIns="50800"/>
            <a:lstStyle/>
            <a:p>
              <a:pPr algn="ctr">
                <a:lnSpc>
                  <a:spcPts val="2889"/>
                </a:lnSpc>
              </a:pPr>
            </a:p>
          </p:txBody>
        </p:sp>
      </p:grpSp>
      <p:sp>
        <p:nvSpPr>
          <p:cNvPr name="TextBox 25" id="25"/>
          <p:cNvSpPr txBox="true"/>
          <p:nvPr/>
        </p:nvSpPr>
        <p:spPr>
          <a:xfrm rot="0">
            <a:off x="9811884" y="2982612"/>
            <a:ext cx="6185203" cy="429895"/>
          </a:xfrm>
          <a:prstGeom prst="rect">
            <a:avLst/>
          </a:prstGeom>
        </p:spPr>
        <p:txBody>
          <a:bodyPr anchor="t" rtlCol="false" tIns="0" lIns="0" bIns="0" rIns="0">
            <a:spAutoFit/>
          </a:bodyPr>
          <a:lstStyle/>
          <a:p>
            <a:pPr algn="ctr">
              <a:lnSpc>
                <a:spcPts val="3499"/>
              </a:lnSpc>
            </a:pPr>
            <a:r>
              <a:rPr lang="en-US" b="true" sz="2799">
                <a:solidFill>
                  <a:srgbClr val="F3F6FA"/>
                </a:solidFill>
                <a:latin typeface="TT Fors Bold"/>
                <a:ea typeface="TT Fors Bold"/>
                <a:cs typeface="TT Fors Bold"/>
                <a:sym typeface="TT Fors Bold"/>
              </a:rPr>
              <a:t> Shortage of Medical Experts</a:t>
            </a:r>
          </a:p>
        </p:txBody>
      </p:sp>
      <p:sp>
        <p:nvSpPr>
          <p:cNvPr name="TextBox 26" id="26"/>
          <p:cNvSpPr txBox="true"/>
          <p:nvPr/>
        </p:nvSpPr>
        <p:spPr>
          <a:xfrm rot="0">
            <a:off x="9811884" y="3794178"/>
            <a:ext cx="7128694" cy="997895"/>
          </a:xfrm>
          <a:prstGeom prst="rect">
            <a:avLst/>
          </a:prstGeom>
        </p:spPr>
        <p:txBody>
          <a:bodyPr anchor="t" rtlCol="false" tIns="0" lIns="0" bIns="0" rIns="0">
            <a:spAutoFit/>
          </a:bodyPr>
          <a:lstStyle/>
          <a:p>
            <a:pPr algn="just">
              <a:lnSpc>
                <a:spcPts val="3924"/>
              </a:lnSpc>
            </a:pPr>
            <a:r>
              <a:rPr lang="en-US" sz="3139">
                <a:solidFill>
                  <a:srgbClr val="F3F6FA"/>
                </a:solidFill>
                <a:latin typeface="TT Fors"/>
                <a:ea typeface="TT Fors"/>
                <a:cs typeface="TT Fors"/>
                <a:sym typeface="TT Fors"/>
              </a:rPr>
              <a:t>Limited availability of radiologists and specialists in remote areas.</a:t>
            </a:r>
          </a:p>
        </p:txBody>
      </p:sp>
      <p:grpSp>
        <p:nvGrpSpPr>
          <p:cNvPr name="Group 27" id="27"/>
          <p:cNvGrpSpPr/>
          <p:nvPr/>
        </p:nvGrpSpPr>
        <p:grpSpPr>
          <a:xfrm rot="0">
            <a:off x="9526612" y="6283118"/>
            <a:ext cx="7732688" cy="2461260"/>
            <a:chOff x="0" y="0"/>
            <a:chExt cx="2036593" cy="648233"/>
          </a:xfrm>
        </p:grpSpPr>
        <p:sp>
          <p:nvSpPr>
            <p:cNvPr name="Freeform 28" id="28"/>
            <p:cNvSpPr/>
            <p:nvPr/>
          </p:nvSpPr>
          <p:spPr>
            <a:xfrm flipH="false" flipV="false" rot="0">
              <a:off x="0" y="0"/>
              <a:ext cx="2036593" cy="648233"/>
            </a:xfrm>
            <a:custGeom>
              <a:avLst/>
              <a:gdLst/>
              <a:ahLst/>
              <a:cxnLst/>
              <a:rect r="r" b="b" t="t" l="l"/>
              <a:pathLst>
                <a:path h="648233" w="2036593">
                  <a:moveTo>
                    <a:pt x="50060" y="0"/>
                  </a:moveTo>
                  <a:lnTo>
                    <a:pt x="1986533" y="0"/>
                  </a:lnTo>
                  <a:cubicBezTo>
                    <a:pt x="1999810" y="0"/>
                    <a:pt x="2012543" y="5274"/>
                    <a:pt x="2021931" y="14662"/>
                  </a:cubicBezTo>
                  <a:cubicBezTo>
                    <a:pt x="2031319" y="24050"/>
                    <a:pt x="2036593" y="36783"/>
                    <a:pt x="2036593" y="50060"/>
                  </a:cubicBezTo>
                  <a:lnTo>
                    <a:pt x="2036593" y="598173"/>
                  </a:lnTo>
                  <a:cubicBezTo>
                    <a:pt x="2036593" y="611450"/>
                    <a:pt x="2031319" y="624183"/>
                    <a:pt x="2021931" y="633571"/>
                  </a:cubicBezTo>
                  <a:cubicBezTo>
                    <a:pt x="2012543" y="642959"/>
                    <a:pt x="1999810" y="648233"/>
                    <a:pt x="1986533" y="648233"/>
                  </a:cubicBezTo>
                  <a:lnTo>
                    <a:pt x="50060" y="648233"/>
                  </a:lnTo>
                  <a:cubicBezTo>
                    <a:pt x="22412" y="648233"/>
                    <a:pt x="0" y="625821"/>
                    <a:pt x="0" y="598173"/>
                  </a:cubicBezTo>
                  <a:lnTo>
                    <a:pt x="0" y="50060"/>
                  </a:lnTo>
                  <a:cubicBezTo>
                    <a:pt x="0" y="36783"/>
                    <a:pt x="5274" y="24050"/>
                    <a:pt x="14662" y="14662"/>
                  </a:cubicBezTo>
                  <a:cubicBezTo>
                    <a:pt x="24050" y="5274"/>
                    <a:pt x="36783" y="0"/>
                    <a:pt x="50060" y="0"/>
                  </a:cubicBezTo>
                  <a:close/>
                </a:path>
              </a:pathLst>
            </a:custGeom>
            <a:ln w="38100" cap="rnd">
              <a:solidFill>
                <a:srgbClr val="000000"/>
              </a:solidFill>
              <a:prstDash val="solid"/>
              <a:round/>
            </a:ln>
          </p:spPr>
        </p:sp>
        <p:sp>
          <p:nvSpPr>
            <p:cNvPr name="TextBox 29" id="29"/>
            <p:cNvSpPr txBox="true"/>
            <p:nvPr/>
          </p:nvSpPr>
          <p:spPr>
            <a:xfrm>
              <a:off x="0" y="0"/>
              <a:ext cx="2036593" cy="648233"/>
            </a:xfrm>
            <a:prstGeom prst="rect">
              <a:avLst/>
            </a:prstGeom>
          </p:spPr>
          <p:txBody>
            <a:bodyPr anchor="ctr" rtlCol="false" tIns="50800" lIns="50800" bIns="50800" rIns="50800"/>
            <a:lstStyle/>
            <a:p>
              <a:pPr algn="ctr">
                <a:lnSpc>
                  <a:spcPts val="2889"/>
                </a:lnSpc>
              </a:pPr>
            </a:p>
          </p:txBody>
        </p:sp>
      </p:grpSp>
      <p:grpSp>
        <p:nvGrpSpPr>
          <p:cNvPr name="Group 30" id="30"/>
          <p:cNvGrpSpPr/>
          <p:nvPr/>
        </p:nvGrpSpPr>
        <p:grpSpPr>
          <a:xfrm rot="0">
            <a:off x="9811884" y="6043123"/>
            <a:ext cx="5663211" cy="673407"/>
            <a:chOff x="0" y="0"/>
            <a:chExt cx="1491545" cy="177358"/>
          </a:xfrm>
        </p:grpSpPr>
        <p:sp>
          <p:nvSpPr>
            <p:cNvPr name="Freeform 31" id="31"/>
            <p:cNvSpPr/>
            <p:nvPr/>
          </p:nvSpPr>
          <p:spPr>
            <a:xfrm flipH="false" flipV="false" rot="0">
              <a:off x="0" y="0"/>
              <a:ext cx="1491545" cy="177358"/>
            </a:xfrm>
            <a:custGeom>
              <a:avLst/>
              <a:gdLst/>
              <a:ahLst/>
              <a:cxnLst/>
              <a:rect r="r" b="b" t="t" l="l"/>
              <a:pathLst>
                <a:path h="177358" w="1491545">
                  <a:moveTo>
                    <a:pt x="0" y="0"/>
                  </a:moveTo>
                  <a:lnTo>
                    <a:pt x="1491545" y="0"/>
                  </a:lnTo>
                  <a:lnTo>
                    <a:pt x="1491545" y="177358"/>
                  </a:lnTo>
                  <a:lnTo>
                    <a:pt x="0" y="177358"/>
                  </a:lnTo>
                  <a:close/>
                </a:path>
              </a:pathLst>
            </a:custGeom>
            <a:solidFill>
              <a:srgbClr val="1C3F60"/>
            </a:solidFill>
          </p:spPr>
        </p:sp>
        <p:sp>
          <p:nvSpPr>
            <p:cNvPr name="TextBox 32" id="32"/>
            <p:cNvSpPr txBox="true"/>
            <p:nvPr/>
          </p:nvSpPr>
          <p:spPr>
            <a:xfrm>
              <a:off x="0" y="0"/>
              <a:ext cx="1491545" cy="177358"/>
            </a:xfrm>
            <a:prstGeom prst="rect">
              <a:avLst/>
            </a:prstGeom>
          </p:spPr>
          <p:txBody>
            <a:bodyPr anchor="ctr" rtlCol="false" tIns="50800" lIns="50800" bIns="50800" rIns="50800"/>
            <a:lstStyle/>
            <a:p>
              <a:pPr algn="ctr">
                <a:lnSpc>
                  <a:spcPts val="2889"/>
                </a:lnSpc>
              </a:pPr>
            </a:p>
          </p:txBody>
        </p:sp>
      </p:grpSp>
      <p:sp>
        <p:nvSpPr>
          <p:cNvPr name="TextBox 33" id="33"/>
          <p:cNvSpPr txBox="true"/>
          <p:nvPr/>
        </p:nvSpPr>
        <p:spPr>
          <a:xfrm rot="0">
            <a:off x="9811884" y="6160117"/>
            <a:ext cx="5377014" cy="429895"/>
          </a:xfrm>
          <a:prstGeom prst="rect">
            <a:avLst/>
          </a:prstGeom>
        </p:spPr>
        <p:txBody>
          <a:bodyPr anchor="t" rtlCol="false" tIns="0" lIns="0" bIns="0" rIns="0">
            <a:spAutoFit/>
          </a:bodyPr>
          <a:lstStyle/>
          <a:p>
            <a:pPr algn="ctr">
              <a:lnSpc>
                <a:spcPts val="3499"/>
              </a:lnSpc>
            </a:pPr>
            <a:r>
              <a:rPr lang="en-US" b="true" sz="2799">
                <a:solidFill>
                  <a:srgbClr val="F3F6FA"/>
                </a:solidFill>
                <a:latin typeface="TT Fors Bold"/>
                <a:ea typeface="TT Fors Bold"/>
                <a:cs typeface="TT Fors Bold"/>
                <a:sym typeface="TT Fors Bold"/>
              </a:rPr>
              <a:t>Increasing Healthcare Data</a:t>
            </a:r>
          </a:p>
        </p:txBody>
      </p:sp>
      <p:sp>
        <p:nvSpPr>
          <p:cNvPr name="TextBox 34" id="34"/>
          <p:cNvSpPr txBox="true"/>
          <p:nvPr/>
        </p:nvSpPr>
        <p:spPr>
          <a:xfrm rot="0">
            <a:off x="9811884" y="6903513"/>
            <a:ext cx="7128694" cy="934600"/>
          </a:xfrm>
          <a:prstGeom prst="rect">
            <a:avLst/>
          </a:prstGeom>
        </p:spPr>
        <p:txBody>
          <a:bodyPr anchor="t" rtlCol="false" tIns="0" lIns="0" bIns="0" rIns="0">
            <a:spAutoFit/>
          </a:bodyPr>
          <a:lstStyle/>
          <a:p>
            <a:pPr algn="just">
              <a:lnSpc>
                <a:spcPts val="3745"/>
              </a:lnSpc>
            </a:pPr>
            <a:r>
              <a:rPr lang="en-US" sz="2996">
                <a:solidFill>
                  <a:srgbClr val="F3F6FA"/>
                </a:solidFill>
                <a:latin typeface="TT Fors"/>
                <a:ea typeface="TT Fors"/>
                <a:cs typeface="TT Fors"/>
                <a:sym typeface="TT Fors"/>
              </a:rPr>
              <a:t>Large volumes of medical images require automated processing.</a:t>
            </a:r>
          </a:p>
        </p:txBody>
      </p:sp>
      <p:sp>
        <p:nvSpPr>
          <p:cNvPr name="Freeform 35" id="35"/>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6" id="36"/>
          <p:cNvSpPr/>
          <p:nvPr/>
        </p:nvSpPr>
        <p:spPr>
          <a:xfrm flipH="false" flipV="false" rot="-2700000">
            <a:off x="-3464289" y="6664482"/>
            <a:ext cx="5719997" cy="8525741"/>
          </a:xfrm>
          <a:custGeom>
            <a:avLst/>
            <a:gdLst/>
            <a:ahLst/>
            <a:cxnLst/>
            <a:rect r="r" b="b" t="t" l="l"/>
            <a:pathLst>
              <a:path h="8525741" w="5719997">
                <a:moveTo>
                  <a:pt x="0" y="0"/>
                </a:moveTo>
                <a:lnTo>
                  <a:pt x="5719997" y="0"/>
                </a:lnTo>
                <a:lnTo>
                  <a:pt x="5719997" y="8525741"/>
                </a:lnTo>
                <a:lnTo>
                  <a:pt x="0" y="8525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Freeform 2" id="2"/>
          <p:cNvSpPr/>
          <p:nvPr/>
        </p:nvSpPr>
        <p:spPr>
          <a:xfrm flipH="false" flipV="false" rot="0">
            <a:off x="-1826103" y="-1364650"/>
            <a:ext cx="8732754" cy="13016300"/>
          </a:xfrm>
          <a:custGeom>
            <a:avLst/>
            <a:gdLst/>
            <a:ahLst/>
            <a:cxnLst/>
            <a:rect r="r" b="b" t="t" l="l"/>
            <a:pathLst>
              <a:path h="13016300" w="8732754">
                <a:moveTo>
                  <a:pt x="0" y="0"/>
                </a:moveTo>
                <a:lnTo>
                  <a:pt x="8732753" y="0"/>
                </a:lnTo>
                <a:lnTo>
                  <a:pt x="8732753"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4526"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F6FA"/>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6" id="6"/>
          <p:cNvGrpSpPr/>
          <p:nvPr/>
        </p:nvGrpSpPr>
        <p:grpSpPr>
          <a:xfrm rot="0">
            <a:off x="-1012229" y="1590998"/>
            <a:ext cx="7105005" cy="71050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187" t="0" r="-25187" b="0"/>
              </a:stretch>
            </a:blipFill>
            <a:ln w="238125" cap="sq">
              <a:solidFill>
                <a:srgbClr val="262262"/>
              </a:solidFill>
              <a:prstDash val="solid"/>
              <a:miter/>
            </a:ln>
          </p:spPr>
        </p:sp>
      </p:grpSp>
      <p:sp>
        <p:nvSpPr>
          <p:cNvPr name="TextBox 8" id="8"/>
          <p:cNvSpPr txBox="true"/>
          <p:nvPr/>
        </p:nvSpPr>
        <p:spPr>
          <a:xfrm rot="0">
            <a:off x="7479919" y="4231771"/>
            <a:ext cx="10073592" cy="4250990"/>
          </a:xfrm>
          <a:prstGeom prst="rect">
            <a:avLst/>
          </a:prstGeom>
        </p:spPr>
        <p:txBody>
          <a:bodyPr anchor="t" rtlCol="false" tIns="0" lIns="0" bIns="0" rIns="0">
            <a:spAutoFit/>
          </a:bodyPr>
          <a:lstStyle/>
          <a:p>
            <a:pPr algn="just" marL="746547" indent="-373273" lvl="1">
              <a:lnSpc>
                <a:spcPts val="4840"/>
              </a:lnSpc>
              <a:buFont typeface="Arial"/>
              <a:buChar char="•"/>
            </a:pPr>
            <a:r>
              <a:rPr lang="en-US" sz="3457">
                <a:solidFill>
                  <a:srgbClr val="F3F6FA"/>
                </a:solidFill>
                <a:latin typeface="TT Fors"/>
                <a:ea typeface="TT Fors"/>
                <a:cs typeface="TT Fors"/>
                <a:sym typeface="TT Fors"/>
              </a:rPr>
              <a:t>Analyzes retinal fundus images</a:t>
            </a:r>
          </a:p>
          <a:p>
            <a:pPr algn="just" marL="746547" indent="-373273" lvl="1">
              <a:lnSpc>
                <a:spcPts val="4840"/>
              </a:lnSpc>
              <a:buFont typeface="Arial"/>
              <a:buChar char="•"/>
            </a:pPr>
            <a:r>
              <a:rPr lang="en-US" sz="3457">
                <a:solidFill>
                  <a:srgbClr val="F3F6FA"/>
                </a:solidFill>
                <a:latin typeface="TT Fors"/>
                <a:ea typeface="TT Fors"/>
                <a:cs typeface="TT Fors"/>
                <a:sym typeface="TT Fors"/>
              </a:rPr>
              <a:t>Detects damaged blood vessels and lesions</a:t>
            </a:r>
          </a:p>
          <a:p>
            <a:pPr algn="just" marL="746547" indent="-373273" lvl="1">
              <a:lnSpc>
                <a:spcPts val="4840"/>
              </a:lnSpc>
              <a:buFont typeface="Arial"/>
              <a:buChar char="•"/>
            </a:pPr>
            <a:r>
              <a:rPr lang="en-US" sz="3457">
                <a:solidFill>
                  <a:srgbClr val="F3F6FA"/>
                </a:solidFill>
                <a:latin typeface="TT Fors"/>
                <a:ea typeface="TT Fors"/>
                <a:cs typeface="TT Fors"/>
                <a:sym typeface="TT Fors"/>
              </a:rPr>
              <a:t>Uses CNN-based deep learning models</a:t>
            </a:r>
          </a:p>
          <a:p>
            <a:pPr algn="just" marL="746547" indent="-373273" lvl="1">
              <a:lnSpc>
                <a:spcPts val="4840"/>
              </a:lnSpc>
              <a:buFont typeface="Arial"/>
              <a:buChar char="•"/>
            </a:pPr>
            <a:r>
              <a:rPr lang="en-US" sz="3457">
                <a:solidFill>
                  <a:srgbClr val="F3F6FA"/>
                </a:solidFill>
                <a:latin typeface="TT Fors"/>
                <a:ea typeface="TT Fors"/>
                <a:cs typeface="TT Fors"/>
                <a:sym typeface="TT Fors"/>
              </a:rPr>
              <a:t>Enables early diagnosis</a:t>
            </a:r>
          </a:p>
          <a:p>
            <a:pPr algn="just" marL="746547" indent="-373273" lvl="1">
              <a:lnSpc>
                <a:spcPts val="4840"/>
              </a:lnSpc>
              <a:buFont typeface="Arial"/>
              <a:buChar char="•"/>
            </a:pPr>
            <a:r>
              <a:rPr lang="en-US" sz="3457">
                <a:solidFill>
                  <a:srgbClr val="F3F6FA"/>
                </a:solidFill>
                <a:latin typeface="TT Fors"/>
                <a:ea typeface="TT Fors"/>
                <a:cs typeface="TT Fors"/>
                <a:sym typeface="TT Fors"/>
              </a:rPr>
              <a:t>Reduces risk of blindness</a:t>
            </a:r>
          </a:p>
          <a:p>
            <a:pPr algn="just" marL="746547" indent="-373273" lvl="1">
              <a:lnSpc>
                <a:spcPts val="4840"/>
              </a:lnSpc>
              <a:buFont typeface="Arial"/>
              <a:buChar char="•"/>
            </a:pPr>
            <a:r>
              <a:rPr lang="en-US" sz="3457">
                <a:solidFill>
                  <a:srgbClr val="F3F6FA"/>
                </a:solidFill>
                <a:latin typeface="TT Fors"/>
                <a:ea typeface="TT Fors"/>
                <a:cs typeface="TT Fors"/>
                <a:sym typeface="TT Fors"/>
              </a:rPr>
              <a:t>Supports automated eye screening</a:t>
            </a:r>
          </a:p>
          <a:p>
            <a:pPr algn="just">
              <a:lnSpc>
                <a:spcPts val="4840"/>
              </a:lnSpc>
            </a:pPr>
          </a:p>
        </p:txBody>
      </p:sp>
      <p:sp>
        <p:nvSpPr>
          <p:cNvPr name="TextBox 9" id="9"/>
          <p:cNvSpPr txBox="true"/>
          <p:nvPr/>
        </p:nvSpPr>
        <p:spPr>
          <a:xfrm rot="0">
            <a:off x="7479919" y="2285538"/>
            <a:ext cx="9950098" cy="2648268"/>
          </a:xfrm>
          <a:prstGeom prst="rect">
            <a:avLst/>
          </a:prstGeom>
        </p:spPr>
        <p:txBody>
          <a:bodyPr anchor="t" rtlCol="false" tIns="0" lIns="0" bIns="0" rIns="0">
            <a:spAutoFit/>
          </a:bodyPr>
          <a:lstStyle/>
          <a:p>
            <a:pPr algn="l">
              <a:lnSpc>
                <a:spcPts val="6849"/>
              </a:lnSpc>
            </a:pPr>
            <a:r>
              <a:rPr lang="en-US" sz="6918" spc="-138" b="true">
                <a:solidFill>
                  <a:srgbClr val="F3F6FA"/>
                </a:solidFill>
                <a:latin typeface="Bebas Neue Bold"/>
                <a:ea typeface="Bebas Neue Bold"/>
                <a:cs typeface="Bebas Neue Bold"/>
                <a:sym typeface="Bebas Neue Bold"/>
              </a:rPr>
              <a:t> Case </a:t>
            </a:r>
            <a:r>
              <a:rPr lang="en-US" b="true" sz="6918" spc="-138">
                <a:solidFill>
                  <a:srgbClr val="F3F6FA"/>
                </a:solidFill>
                <a:latin typeface="Bebas Neue Bold"/>
                <a:ea typeface="Bebas Neue Bold"/>
                <a:cs typeface="Bebas Neue Bold"/>
                <a:sym typeface="Bebas Neue Bold"/>
              </a:rPr>
              <a:t>Study :</a:t>
            </a:r>
          </a:p>
          <a:p>
            <a:pPr algn="l">
              <a:lnSpc>
                <a:spcPts val="6849"/>
              </a:lnSpc>
            </a:pPr>
            <a:r>
              <a:rPr lang="en-US" b="true" sz="6918" spc="-138">
                <a:solidFill>
                  <a:srgbClr val="F3F6FA"/>
                </a:solidFill>
                <a:latin typeface="Bebas Neue Bold"/>
                <a:ea typeface="Bebas Neue Bold"/>
                <a:cs typeface="Bebas Neue Bold"/>
                <a:sym typeface="Bebas Neue Bold"/>
              </a:rPr>
              <a:t>Diabetic Retnopathy Detection</a:t>
            </a:r>
          </a:p>
          <a:p>
            <a:pPr algn="l">
              <a:lnSpc>
                <a:spcPts val="6849"/>
              </a:lnSpc>
            </a:pPr>
          </a:p>
        </p:txBody>
      </p:sp>
      <p:sp>
        <p:nvSpPr>
          <p:cNvPr name="Freeform 10" id="10"/>
          <p:cNvSpPr/>
          <p:nvPr/>
        </p:nvSpPr>
        <p:spPr>
          <a:xfrm flipH="false" flipV="false" rot="-2700000">
            <a:off x="16077641" y="-3942177"/>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11714454" y="884541"/>
            <a:ext cx="11236062" cy="16747518"/>
          </a:xfrm>
          <a:custGeom>
            <a:avLst/>
            <a:gdLst/>
            <a:ahLst/>
            <a:cxnLst/>
            <a:rect r="r" b="b" t="t" l="l"/>
            <a:pathLst>
              <a:path h="16747518" w="11236062">
                <a:moveTo>
                  <a:pt x="0" y="0"/>
                </a:moveTo>
                <a:lnTo>
                  <a:pt x="11236062" y="0"/>
                </a:lnTo>
                <a:lnTo>
                  <a:pt x="11236062" y="16747518"/>
                </a:lnTo>
                <a:lnTo>
                  <a:pt x="0" y="167475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047943"/>
            <a:ext cx="8115300" cy="6191115"/>
            <a:chOff x="0" y="0"/>
            <a:chExt cx="2137363" cy="1630582"/>
          </a:xfrm>
        </p:grpSpPr>
        <p:sp>
          <p:nvSpPr>
            <p:cNvPr name="Freeform 4" id="4"/>
            <p:cNvSpPr/>
            <p:nvPr/>
          </p:nvSpPr>
          <p:spPr>
            <a:xfrm flipH="false" flipV="false" rot="0">
              <a:off x="0" y="0"/>
              <a:ext cx="2137363" cy="1630582"/>
            </a:xfrm>
            <a:custGeom>
              <a:avLst/>
              <a:gdLst/>
              <a:ahLst/>
              <a:cxnLst/>
              <a:rect r="r" b="b" t="t" l="l"/>
              <a:pathLst>
                <a:path h="1630582" w="2137363">
                  <a:moveTo>
                    <a:pt x="47700" y="0"/>
                  </a:moveTo>
                  <a:lnTo>
                    <a:pt x="2089663" y="0"/>
                  </a:lnTo>
                  <a:cubicBezTo>
                    <a:pt x="2102314" y="0"/>
                    <a:pt x="2114447" y="5025"/>
                    <a:pt x="2123392" y="13971"/>
                  </a:cubicBezTo>
                  <a:cubicBezTo>
                    <a:pt x="2132337" y="22916"/>
                    <a:pt x="2137363" y="35049"/>
                    <a:pt x="2137363" y="47700"/>
                  </a:cubicBezTo>
                  <a:lnTo>
                    <a:pt x="2137363" y="1582882"/>
                  </a:lnTo>
                  <a:cubicBezTo>
                    <a:pt x="2137363" y="1595533"/>
                    <a:pt x="2132337" y="1607665"/>
                    <a:pt x="2123392" y="1616611"/>
                  </a:cubicBezTo>
                  <a:cubicBezTo>
                    <a:pt x="2114447" y="1625556"/>
                    <a:pt x="2102314" y="1630582"/>
                    <a:pt x="2089663" y="1630582"/>
                  </a:cubicBezTo>
                  <a:lnTo>
                    <a:pt x="47700" y="1630582"/>
                  </a:lnTo>
                  <a:cubicBezTo>
                    <a:pt x="35049" y="1630582"/>
                    <a:pt x="22916" y="1625556"/>
                    <a:pt x="13971" y="1616611"/>
                  </a:cubicBezTo>
                  <a:cubicBezTo>
                    <a:pt x="5025" y="1607665"/>
                    <a:pt x="0" y="1595533"/>
                    <a:pt x="0" y="1582882"/>
                  </a:cubicBezTo>
                  <a:lnTo>
                    <a:pt x="0" y="47700"/>
                  </a:lnTo>
                  <a:cubicBezTo>
                    <a:pt x="0" y="35049"/>
                    <a:pt x="5025" y="22916"/>
                    <a:pt x="13971" y="13971"/>
                  </a:cubicBezTo>
                  <a:cubicBezTo>
                    <a:pt x="22916" y="5025"/>
                    <a:pt x="35049" y="0"/>
                    <a:pt x="47700" y="0"/>
                  </a:cubicBezTo>
                  <a:close/>
                </a:path>
              </a:pathLst>
            </a:custGeom>
            <a:ln w="38100" cap="rnd">
              <a:solidFill>
                <a:srgbClr val="F3F6FA"/>
              </a:solidFill>
              <a:prstDash val="solid"/>
              <a:round/>
            </a:ln>
          </p:spPr>
        </p:sp>
        <p:sp>
          <p:nvSpPr>
            <p:cNvPr name="TextBox 5" id="5"/>
            <p:cNvSpPr txBox="true"/>
            <p:nvPr/>
          </p:nvSpPr>
          <p:spPr>
            <a:xfrm>
              <a:off x="0" y="0"/>
              <a:ext cx="2137363" cy="1630582"/>
            </a:xfrm>
            <a:prstGeom prst="rect">
              <a:avLst/>
            </a:prstGeom>
          </p:spPr>
          <p:txBody>
            <a:bodyPr anchor="ctr" rtlCol="false" tIns="50800" lIns="50800" bIns="50800" rIns="50800"/>
            <a:lstStyle/>
            <a:p>
              <a:pPr algn="ctr">
                <a:lnSpc>
                  <a:spcPts val="2889"/>
                </a:lnSpc>
              </a:pPr>
            </a:p>
          </p:txBody>
        </p:sp>
      </p:grpSp>
      <p:sp>
        <p:nvSpPr>
          <p:cNvPr name="TextBox 6" id="6"/>
          <p:cNvSpPr txBox="true"/>
          <p:nvPr/>
        </p:nvSpPr>
        <p:spPr>
          <a:xfrm rot="0">
            <a:off x="1492863" y="2825623"/>
            <a:ext cx="5537262" cy="1858899"/>
          </a:xfrm>
          <a:prstGeom prst="rect">
            <a:avLst/>
          </a:prstGeom>
        </p:spPr>
        <p:txBody>
          <a:bodyPr anchor="t" rtlCol="false" tIns="0" lIns="0" bIns="0" rIns="0">
            <a:spAutoFit/>
          </a:bodyPr>
          <a:lstStyle/>
          <a:p>
            <a:pPr algn="l">
              <a:lnSpc>
                <a:spcPts val="7128"/>
              </a:lnSpc>
            </a:pPr>
            <a:r>
              <a:rPr lang="en-US" b="true" sz="7200" spc="-144">
                <a:solidFill>
                  <a:srgbClr val="F3F6FA"/>
                </a:solidFill>
                <a:latin typeface="Bebas Neue Bold"/>
                <a:ea typeface="Bebas Neue Bold"/>
                <a:cs typeface="Bebas Neue Bold"/>
                <a:sym typeface="Bebas Neue Bold"/>
              </a:rPr>
              <a:t>Tools &amp; Technologies</a:t>
            </a:r>
          </a:p>
        </p:txBody>
      </p:sp>
      <p:sp>
        <p:nvSpPr>
          <p:cNvPr name="TextBox 7" id="7"/>
          <p:cNvSpPr txBox="true"/>
          <p:nvPr/>
        </p:nvSpPr>
        <p:spPr>
          <a:xfrm rot="0">
            <a:off x="1492863" y="4646422"/>
            <a:ext cx="7186975" cy="345313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F3F6FA"/>
                </a:solidFill>
                <a:latin typeface="TT Fors"/>
                <a:ea typeface="TT Fors"/>
                <a:cs typeface="TT Fors"/>
                <a:sym typeface="TT Fors"/>
              </a:rPr>
              <a:t>Python – Programming language</a:t>
            </a:r>
          </a:p>
          <a:p>
            <a:pPr algn="just" marL="604519" indent="-302260" lvl="1">
              <a:lnSpc>
                <a:spcPts val="3919"/>
              </a:lnSpc>
              <a:buFont typeface="Arial"/>
              <a:buChar char="•"/>
            </a:pPr>
            <a:r>
              <a:rPr lang="en-US" sz="2799">
                <a:solidFill>
                  <a:srgbClr val="F3F6FA"/>
                </a:solidFill>
                <a:latin typeface="TT Fors"/>
                <a:ea typeface="TT Fors"/>
                <a:cs typeface="TT Fors"/>
                <a:sym typeface="TT Fors"/>
              </a:rPr>
              <a:t>OpenCV – Image processing</a:t>
            </a:r>
          </a:p>
          <a:p>
            <a:pPr algn="just" marL="604519" indent="-302260" lvl="1">
              <a:lnSpc>
                <a:spcPts val="3919"/>
              </a:lnSpc>
              <a:buFont typeface="Arial"/>
              <a:buChar char="•"/>
            </a:pPr>
            <a:r>
              <a:rPr lang="en-US" sz="2799">
                <a:solidFill>
                  <a:srgbClr val="F3F6FA"/>
                </a:solidFill>
                <a:latin typeface="TT Fors"/>
                <a:ea typeface="TT Fors"/>
                <a:cs typeface="TT Fors"/>
                <a:sym typeface="TT Fors"/>
              </a:rPr>
              <a:t>TensorFlow – Deep learning</a:t>
            </a:r>
          </a:p>
          <a:p>
            <a:pPr algn="just" marL="604519" indent="-302260" lvl="1">
              <a:lnSpc>
                <a:spcPts val="3919"/>
              </a:lnSpc>
              <a:buFont typeface="Arial"/>
              <a:buChar char="•"/>
            </a:pPr>
            <a:r>
              <a:rPr lang="en-US" sz="2799">
                <a:solidFill>
                  <a:srgbClr val="F3F6FA"/>
                </a:solidFill>
                <a:latin typeface="TT Fors"/>
                <a:ea typeface="TT Fors"/>
                <a:cs typeface="TT Fors"/>
                <a:sym typeface="TT Fors"/>
              </a:rPr>
              <a:t>PyTorch – AI model development</a:t>
            </a:r>
          </a:p>
          <a:p>
            <a:pPr algn="just" marL="604519" indent="-302260" lvl="1">
              <a:lnSpc>
                <a:spcPts val="3919"/>
              </a:lnSpc>
              <a:buFont typeface="Arial"/>
              <a:buChar char="•"/>
            </a:pPr>
            <a:r>
              <a:rPr lang="en-US" sz="2799">
                <a:solidFill>
                  <a:srgbClr val="F3F6FA"/>
                </a:solidFill>
                <a:latin typeface="TT Fors"/>
                <a:ea typeface="TT Fors"/>
                <a:cs typeface="TT Fors"/>
                <a:sym typeface="TT Fors"/>
              </a:rPr>
              <a:t>MATLAB – Medical image analysis</a:t>
            </a:r>
          </a:p>
          <a:p>
            <a:pPr algn="just" marL="604519" indent="-302260" lvl="1">
              <a:lnSpc>
                <a:spcPts val="3919"/>
              </a:lnSpc>
              <a:buFont typeface="Arial"/>
              <a:buChar char="•"/>
            </a:pPr>
            <a:r>
              <a:rPr lang="en-US" sz="2799">
                <a:solidFill>
                  <a:srgbClr val="F3F6FA"/>
                </a:solidFill>
                <a:latin typeface="TT Fors"/>
                <a:ea typeface="TT Fors"/>
                <a:cs typeface="TT Fors"/>
                <a:sym typeface="TT Fors"/>
              </a:rPr>
              <a:t>CNN – Disease classification algorithm</a:t>
            </a:r>
          </a:p>
          <a:p>
            <a:pPr algn="just">
              <a:lnSpc>
                <a:spcPts val="3919"/>
              </a:lnSpc>
            </a:pPr>
          </a:p>
        </p:txBody>
      </p:sp>
      <p:grpSp>
        <p:nvGrpSpPr>
          <p:cNvPr name="Group 8" id="8"/>
          <p:cNvGrpSpPr/>
          <p:nvPr/>
        </p:nvGrpSpPr>
        <p:grpSpPr>
          <a:xfrm rot="0">
            <a:off x="10227481" y="1590998"/>
            <a:ext cx="7105005" cy="710500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8888" t="0" r="-38888" b="0"/>
              </a:stretch>
            </a:blipFill>
            <a:ln w="238125" cap="sq">
              <a:solidFill>
                <a:srgbClr val="262262"/>
              </a:solid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246370"/>
            <a:chOff x="0" y="0"/>
            <a:chExt cx="2833290" cy="812800"/>
          </a:xfrm>
        </p:grpSpPr>
        <p:sp>
          <p:nvSpPr>
            <p:cNvPr name="Freeform 3" id="3"/>
            <p:cNvSpPr/>
            <p:nvPr/>
          </p:nvSpPr>
          <p:spPr>
            <a:xfrm flipH="false" flipV="false" rot="0">
              <a:off x="0" y="0"/>
              <a:ext cx="2833290" cy="812800"/>
            </a:xfrm>
            <a:custGeom>
              <a:avLst/>
              <a:gdLst/>
              <a:ahLst/>
              <a:cxnLst/>
              <a:rect r="r" b="b" t="t" l="l"/>
              <a:pathLst>
                <a:path h="812800" w="2833290">
                  <a:moveTo>
                    <a:pt x="0" y="0"/>
                  </a:moveTo>
                  <a:lnTo>
                    <a:pt x="2833290" y="0"/>
                  </a:lnTo>
                  <a:lnTo>
                    <a:pt x="2833290" y="812800"/>
                  </a:lnTo>
                  <a:lnTo>
                    <a:pt x="0" y="812800"/>
                  </a:lnTo>
                  <a:close/>
                </a:path>
              </a:pathLst>
            </a:custGeom>
            <a:blipFill>
              <a:blip r:embed="rId2"/>
              <a:stretch>
                <a:fillRect l="0" t="-66122" r="0" b="-66122"/>
              </a:stretch>
            </a:blipFill>
          </p:spPr>
        </p:sp>
      </p:grpSp>
      <p:sp>
        <p:nvSpPr>
          <p:cNvPr name="TextBox 4" id="4"/>
          <p:cNvSpPr txBox="true"/>
          <p:nvPr/>
        </p:nvSpPr>
        <p:spPr>
          <a:xfrm rot="0">
            <a:off x="3768308" y="6054713"/>
            <a:ext cx="10679815" cy="1101714"/>
          </a:xfrm>
          <a:prstGeom prst="rect">
            <a:avLst/>
          </a:prstGeom>
        </p:spPr>
        <p:txBody>
          <a:bodyPr anchor="t" rtlCol="false" tIns="0" lIns="0" bIns="0" rIns="0">
            <a:spAutoFit/>
          </a:bodyPr>
          <a:lstStyle/>
          <a:p>
            <a:pPr algn="ctr">
              <a:lnSpc>
                <a:spcPts val="8184"/>
              </a:lnSpc>
            </a:pPr>
            <a:r>
              <a:rPr lang="en-US" b="true" sz="8267" spc="-165">
                <a:solidFill>
                  <a:srgbClr val="F3F6FA"/>
                </a:solidFill>
                <a:latin typeface="Bebas Neue Bold"/>
                <a:ea typeface="Bebas Neue Bold"/>
                <a:cs typeface="Bebas Neue Bold"/>
                <a:sym typeface="Bebas Neue Bold"/>
              </a:rPr>
              <a:t>Advan</a:t>
            </a:r>
            <a:r>
              <a:rPr lang="en-US" b="true" sz="8267" spc="-165">
                <a:solidFill>
                  <a:srgbClr val="F3F6FA"/>
                </a:solidFill>
                <a:latin typeface="Bebas Neue Bold"/>
                <a:ea typeface="Bebas Neue Bold"/>
                <a:cs typeface="Bebas Neue Bold"/>
                <a:sym typeface="Bebas Neue Bold"/>
              </a:rPr>
              <a:t>tages of Computer Vision</a:t>
            </a:r>
          </a:p>
        </p:txBody>
      </p:sp>
      <p:sp>
        <p:nvSpPr>
          <p:cNvPr name="TextBox 5" id="5"/>
          <p:cNvSpPr txBox="true"/>
          <p:nvPr/>
        </p:nvSpPr>
        <p:spPr>
          <a:xfrm rot="0">
            <a:off x="2872273" y="7099277"/>
            <a:ext cx="12543455" cy="2462530"/>
          </a:xfrm>
          <a:prstGeom prst="rect">
            <a:avLst/>
          </a:prstGeom>
        </p:spPr>
        <p:txBody>
          <a:bodyPr anchor="t" rtlCol="false" tIns="0" lIns="0" bIns="0" rIns="0">
            <a:spAutoFit/>
          </a:bodyPr>
          <a:lstStyle/>
          <a:p>
            <a:pPr algn="ctr">
              <a:lnSpc>
                <a:spcPts val="3919"/>
              </a:lnSpc>
            </a:pPr>
            <a:r>
              <a:rPr lang="en-US" sz="2799">
                <a:solidFill>
                  <a:srgbClr val="F3F6FA"/>
                </a:solidFill>
                <a:latin typeface="TT Fors"/>
                <a:ea typeface="TT Fors"/>
                <a:cs typeface="TT Fors"/>
                <a:sym typeface="TT Fors"/>
              </a:rPr>
              <a:t>Computer Vision improves diagnostic accuracy by identifying diseases at an early stage and reducing the possibility of human error. It accelerates medical image analysis, supports healthcare professionals in decision-making, lowers workload, and enables healthcare services to reach remote and underserved regions through automated screening systems.</a:t>
            </a:r>
          </a:p>
        </p:txBody>
      </p:sp>
      <p:sp>
        <p:nvSpPr>
          <p:cNvPr name="Freeform 6" id="6"/>
          <p:cNvSpPr/>
          <p:nvPr/>
        </p:nvSpPr>
        <p:spPr>
          <a:xfrm flipH="false" flipV="false" rot="-8100000">
            <a:off x="-3464289" y="2357633"/>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8100000">
            <a:off x="16000532" y="2357633"/>
            <a:ext cx="5719997" cy="8525741"/>
          </a:xfrm>
          <a:custGeom>
            <a:avLst/>
            <a:gdLst/>
            <a:ahLst/>
            <a:cxnLst/>
            <a:rect r="r" b="b" t="t" l="l"/>
            <a:pathLst>
              <a:path h="8525741" w="5719997">
                <a:moveTo>
                  <a:pt x="0" y="0"/>
                </a:moveTo>
                <a:lnTo>
                  <a:pt x="5719997" y="0"/>
                </a:lnTo>
                <a:lnTo>
                  <a:pt x="5719997" y="8525742"/>
                </a:lnTo>
                <a:lnTo>
                  <a:pt x="0" y="85257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TextBox 2" id="2"/>
          <p:cNvSpPr txBox="true"/>
          <p:nvPr/>
        </p:nvSpPr>
        <p:spPr>
          <a:xfrm rot="0">
            <a:off x="1028700" y="4995794"/>
            <a:ext cx="8851838" cy="1284732"/>
          </a:xfrm>
          <a:prstGeom prst="rect">
            <a:avLst/>
          </a:prstGeom>
        </p:spPr>
        <p:txBody>
          <a:bodyPr anchor="t" rtlCol="false" tIns="0" lIns="0" bIns="0" rIns="0">
            <a:spAutoFit/>
          </a:bodyPr>
          <a:lstStyle/>
          <a:p>
            <a:pPr algn="l">
              <a:lnSpc>
                <a:spcPts val="9504"/>
              </a:lnSpc>
            </a:pPr>
            <a:r>
              <a:rPr lang="en-US" b="true" sz="9600" spc="-192">
                <a:solidFill>
                  <a:srgbClr val="F3F6FA"/>
                </a:solidFill>
                <a:latin typeface="Bebas Neue Bold"/>
                <a:ea typeface="Bebas Neue Bold"/>
                <a:cs typeface="Bebas Neue Bold"/>
                <a:sym typeface="Bebas Neue Bold"/>
              </a:rPr>
              <a:t>Conclusion</a:t>
            </a:r>
          </a:p>
        </p:txBody>
      </p:sp>
      <p:sp>
        <p:nvSpPr>
          <p:cNvPr name="TextBox 3" id="3"/>
          <p:cNvSpPr txBox="true"/>
          <p:nvPr/>
        </p:nvSpPr>
        <p:spPr>
          <a:xfrm rot="0">
            <a:off x="76240" y="6223376"/>
            <a:ext cx="10756757" cy="2814737"/>
          </a:xfrm>
          <a:prstGeom prst="rect">
            <a:avLst/>
          </a:prstGeom>
        </p:spPr>
        <p:txBody>
          <a:bodyPr anchor="t" rtlCol="false" tIns="0" lIns="0" bIns="0" rIns="0">
            <a:spAutoFit/>
          </a:bodyPr>
          <a:lstStyle/>
          <a:p>
            <a:pPr algn="just">
              <a:lnSpc>
                <a:spcPts val="3726"/>
              </a:lnSpc>
            </a:pPr>
            <a:r>
              <a:rPr lang="en-US" sz="2661">
                <a:solidFill>
                  <a:srgbClr val="F3F6FA"/>
                </a:solidFill>
                <a:latin typeface="TT Fors"/>
                <a:ea typeface="TT Fors"/>
                <a:cs typeface="TT Fors"/>
                <a:sym typeface="TT Fors"/>
              </a:rPr>
              <a:t>Computer Vision is transforming modern healthcare by enabling intelligent analysis of medical images and supporting faster, more accurate diagnosis. With continuous advancements in Artificial Intelligence and Deep Learning, it has the potential to improve healthcare accessibility, enhance patient outcomes, and assist medical professionals in delivering high-quality clinical care.</a:t>
            </a:r>
          </a:p>
        </p:txBody>
      </p:sp>
      <p:sp>
        <p:nvSpPr>
          <p:cNvPr name="Freeform 4" id="4"/>
          <p:cNvSpPr/>
          <p:nvPr/>
        </p:nvSpPr>
        <p:spPr>
          <a:xfrm flipH="false" flipV="false" rot="-1578356">
            <a:off x="9920585" y="-3427759"/>
            <a:ext cx="8920669" cy="13296389"/>
          </a:xfrm>
          <a:custGeom>
            <a:avLst/>
            <a:gdLst/>
            <a:ahLst/>
            <a:cxnLst/>
            <a:rect r="r" b="b" t="t" l="l"/>
            <a:pathLst>
              <a:path h="13296389" w="8920669">
                <a:moveTo>
                  <a:pt x="0" y="0"/>
                </a:moveTo>
                <a:lnTo>
                  <a:pt x="8920668" y="0"/>
                </a:lnTo>
                <a:lnTo>
                  <a:pt x="8920668" y="13296390"/>
                </a:lnTo>
                <a:lnTo>
                  <a:pt x="0" y="13296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1146461" y="1028700"/>
            <a:ext cx="8229600" cy="82296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F6FA"/>
            </a:solidFill>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8" id="8"/>
          <p:cNvGrpSpPr/>
          <p:nvPr/>
        </p:nvGrpSpPr>
        <p:grpSpPr>
          <a:xfrm rot="0">
            <a:off x="11708759" y="1590998"/>
            <a:ext cx="7105005" cy="710500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238125" cap="sq">
              <a:solidFill>
                <a:srgbClr val="262262"/>
              </a:solidFill>
              <a:prstDash val="solid"/>
              <a:miter/>
            </a:ln>
          </p:spPr>
        </p:sp>
      </p:grpSp>
      <p:sp>
        <p:nvSpPr>
          <p:cNvPr name="Freeform 10" id="10"/>
          <p:cNvSpPr/>
          <p:nvPr/>
        </p:nvSpPr>
        <p:spPr>
          <a:xfrm flipH="false" flipV="false" rot="-8100000">
            <a:off x="-3712870" y="-4896225"/>
            <a:ext cx="7425739" cy="11068175"/>
          </a:xfrm>
          <a:custGeom>
            <a:avLst/>
            <a:gdLst/>
            <a:ahLst/>
            <a:cxnLst/>
            <a:rect r="r" b="b" t="t" l="l"/>
            <a:pathLst>
              <a:path h="11068175" w="7425739">
                <a:moveTo>
                  <a:pt x="0" y="0"/>
                </a:moveTo>
                <a:lnTo>
                  <a:pt x="7425740" y="0"/>
                </a:lnTo>
                <a:lnTo>
                  <a:pt x="7425740" y="11068176"/>
                </a:lnTo>
                <a:lnTo>
                  <a:pt x="0" y="110681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TextBox 2" id="2"/>
          <p:cNvSpPr txBox="true"/>
          <p:nvPr/>
        </p:nvSpPr>
        <p:spPr>
          <a:xfrm rot="0">
            <a:off x="1028700" y="4233789"/>
            <a:ext cx="8605034" cy="2143272"/>
          </a:xfrm>
          <a:prstGeom prst="rect">
            <a:avLst/>
          </a:prstGeom>
        </p:spPr>
        <p:txBody>
          <a:bodyPr anchor="t" rtlCol="false" tIns="0" lIns="0" bIns="0" rIns="0">
            <a:spAutoFit/>
          </a:bodyPr>
          <a:lstStyle/>
          <a:p>
            <a:pPr algn="l">
              <a:lnSpc>
                <a:spcPts val="15973"/>
              </a:lnSpc>
            </a:pPr>
            <a:r>
              <a:rPr lang="en-US" sz="16134" spc="-322" b="true">
                <a:solidFill>
                  <a:srgbClr val="F3F6FA"/>
                </a:solidFill>
                <a:latin typeface="Bebas Neue Bold"/>
                <a:ea typeface="Bebas Neue Bold"/>
                <a:cs typeface="Bebas Neue Bold"/>
                <a:sym typeface="Bebas Neue Bold"/>
              </a:rPr>
              <a:t>Thank you</a:t>
            </a:r>
          </a:p>
        </p:txBody>
      </p:sp>
      <p:sp>
        <p:nvSpPr>
          <p:cNvPr name="Freeform 3" id="3"/>
          <p:cNvSpPr/>
          <p:nvPr/>
        </p:nvSpPr>
        <p:spPr>
          <a:xfrm flipH="false" flipV="false" rot="0">
            <a:off x="9665183" y="-1364650"/>
            <a:ext cx="8732754" cy="13016300"/>
          </a:xfrm>
          <a:custGeom>
            <a:avLst/>
            <a:gdLst/>
            <a:ahLst/>
            <a:cxnLst/>
            <a:rect r="r" b="b" t="t" l="l"/>
            <a:pathLst>
              <a:path h="13016300" w="8732754">
                <a:moveTo>
                  <a:pt x="0" y="0"/>
                </a:moveTo>
                <a:lnTo>
                  <a:pt x="8732754" y="0"/>
                </a:lnTo>
                <a:lnTo>
                  <a:pt x="8732754" y="13016300"/>
                </a:lnTo>
                <a:lnTo>
                  <a:pt x="0" y="13016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916760"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FC1D0"/>
            </a:solidFill>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3269"/>
                </a:lnSpc>
              </a:pPr>
            </a:p>
          </p:txBody>
        </p:sp>
      </p:grpSp>
      <p:grpSp>
        <p:nvGrpSpPr>
          <p:cNvPr name="Group 7" id="7"/>
          <p:cNvGrpSpPr/>
          <p:nvPr/>
        </p:nvGrpSpPr>
        <p:grpSpPr>
          <a:xfrm rot="0">
            <a:off x="10479057" y="1590998"/>
            <a:ext cx="7105005" cy="710500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7032" t="-20814" r="-53963" b="0"/>
              </a:stretch>
            </a:blipFill>
            <a:ln w="238125" cap="sq">
              <a:solidFill>
                <a:srgbClr val="262262"/>
              </a:solidFill>
              <a:prstDash val="solid"/>
              <a:miter/>
            </a:ln>
          </p:spPr>
        </p:sp>
      </p:grpSp>
      <p:sp>
        <p:nvSpPr>
          <p:cNvPr name="Freeform 9" id="9"/>
          <p:cNvSpPr/>
          <p:nvPr/>
        </p:nvSpPr>
        <p:spPr>
          <a:xfrm flipH="false" flipV="false" rot="0">
            <a:off x="4502700" y="-4791631"/>
            <a:ext cx="4598385" cy="6853961"/>
          </a:xfrm>
          <a:custGeom>
            <a:avLst/>
            <a:gdLst/>
            <a:ahLst/>
            <a:cxnLst/>
            <a:rect r="r" b="b" t="t" l="l"/>
            <a:pathLst>
              <a:path h="6853961" w="4598385">
                <a:moveTo>
                  <a:pt x="0" y="0"/>
                </a:moveTo>
                <a:lnTo>
                  <a:pt x="4598385" y="0"/>
                </a:lnTo>
                <a:lnTo>
                  <a:pt x="4598385" y="6853962"/>
                </a:lnTo>
                <a:lnTo>
                  <a:pt x="0" y="68539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343591" y="8957310"/>
            <a:ext cx="3321592" cy="4950883"/>
          </a:xfrm>
          <a:custGeom>
            <a:avLst/>
            <a:gdLst/>
            <a:ahLst/>
            <a:cxnLst/>
            <a:rect r="r" b="b" t="t" l="l"/>
            <a:pathLst>
              <a:path h="4950883" w="3321592">
                <a:moveTo>
                  <a:pt x="0" y="0"/>
                </a:moveTo>
                <a:lnTo>
                  <a:pt x="3321592" y="0"/>
                </a:lnTo>
                <a:lnTo>
                  <a:pt x="3321592" y="4950883"/>
                </a:lnTo>
                <a:lnTo>
                  <a:pt x="0" y="49508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DAHPQZ5LuTY</dc:identifier>
  <dcterms:modified xsi:type="dcterms:W3CDTF">2011-08-01T06:04:30Z</dcterms:modified>
  <cp:revision>1</cp:revision>
  <dc:title>Dark Blue and White Modern Computer Presentation</dc:title>
</cp:coreProperties>
</file>